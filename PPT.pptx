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latsi" charset="1" panose="00000500000000000000"/>
      <p:regular r:id="rId13"/>
    </p:embeddedFont>
    <p:embeddedFont>
      <p:font typeface="Abhaya Libre" charset="1" panose="02000503000000000000"/>
      <p:regular r:id="rId14"/>
    </p:embeddedFont>
    <p:embeddedFont>
      <p:font typeface="Abhaya Libre Bold" charset="1" panose="02000803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071" y="0"/>
            <a:ext cx="4239083" cy="10287000"/>
            <a:chOff x="0" y="0"/>
            <a:chExt cx="5652111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4924531" y="2034413"/>
            <a:ext cx="11192312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50"/>
              </a:lnSpc>
            </a:pPr>
            <a:r>
              <a:rPr lang="en-US" sz="150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CROSSWORD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2646898" y="-21019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208013" y="6081863"/>
            <a:ext cx="12625348" cy="4830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09"/>
              </a:lnSpc>
            </a:pPr>
            <a:r>
              <a:rPr lang="en-US" sz="543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Members:</a:t>
            </a:r>
            <a:r>
              <a:rPr lang="en-US" sz="543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</a:t>
            </a:r>
          </a:p>
          <a:p>
            <a:pPr algn="ctr">
              <a:lnSpc>
                <a:spcPts val="7609"/>
              </a:lnSpc>
            </a:pPr>
            <a:r>
              <a:rPr lang="en-US" sz="543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Ananya Tiwari(202302626010138)</a:t>
            </a:r>
          </a:p>
          <a:p>
            <a:pPr algn="ctr">
              <a:lnSpc>
                <a:spcPts val="7609"/>
              </a:lnSpc>
            </a:pPr>
            <a:r>
              <a:rPr lang="en-US" sz="543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Marhama Shaikh(202302626010124)</a:t>
            </a:r>
          </a:p>
          <a:p>
            <a:pPr algn="ctr">
              <a:lnSpc>
                <a:spcPts val="7609"/>
              </a:lnSpc>
            </a:pPr>
            <a:r>
              <a:rPr lang="en-US" sz="543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Mahi K Panchal(202302626010095)</a:t>
            </a:r>
          </a:p>
          <a:p>
            <a:pPr algn="ctr">
              <a:lnSpc>
                <a:spcPts val="8029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1118095" y="9258300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9E0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07609" y="1506427"/>
            <a:ext cx="9875699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02"/>
              </a:lnSpc>
              <a:spcBef>
                <a:spcPct val="0"/>
              </a:spcBef>
            </a:pPr>
            <a:r>
              <a:rPr lang="en-US" sz="6501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31974" y="3774395"/>
            <a:ext cx="14238158" cy="419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The cossword game is a simple, console-based interactive crossword game  created using Java.</a:t>
            </a:r>
          </a:p>
          <a:p>
            <a:pPr algn="l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The game involves navigating through a grid, writing letters in predefined locations, and solving a puzzle.</a:t>
            </a:r>
          </a:p>
          <a:p>
            <a:pPr algn="l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The game consists of three fixed levels, each with its own crossword puzzle with words related to a particular theme.</a:t>
            </a:r>
          </a:p>
          <a:p>
            <a:pPr algn="l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The game has e</a:t>
            </a:r>
            <a:r>
              <a:rPr lang="en-US" sz="33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asy-to-use controls for navigation and letter placement.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4323" y="552852"/>
            <a:ext cx="16230600" cy="1177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69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GAME OBJECTIVE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27362" y="0"/>
            <a:ext cx="937061" cy="10287000"/>
            <a:chOff x="0" y="0"/>
            <a:chExt cx="246798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679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6798">
                  <a:moveTo>
                    <a:pt x="0" y="0"/>
                  </a:moveTo>
                  <a:lnTo>
                    <a:pt x="246798" y="0"/>
                  </a:lnTo>
                  <a:lnTo>
                    <a:pt x="24679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3E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679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697545" y="878816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4423" y="-164117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18816" y="2974839"/>
            <a:ext cx="9278729" cy="6283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5"/>
              </a:lnSpc>
            </a:pPr>
            <a:r>
              <a:rPr lang="en-US" sz="3568" b="true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Goal of the Game</a:t>
            </a:r>
            <a:r>
              <a:rPr lang="en-US" sz="3568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: Navigate through a 10x10 grid and replace missing letters with correct answers.</a:t>
            </a:r>
          </a:p>
          <a:p>
            <a:pPr algn="l">
              <a:lnSpc>
                <a:spcPts val="4995"/>
              </a:lnSpc>
            </a:pPr>
            <a:r>
              <a:rPr lang="en-US" sz="3568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</a:t>
            </a:r>
            <a:r>
              <a:rPr lang="en-US" sz="3568" b="true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Actions:</a:t>
            </a:r>
          </a:p>
          <a:p>
            <a:pPr algn="l" marL="770409" indent="-385204" lvl="1">
              <a:lnSpc>
                <a:spcPts val="4995"/>
              </a:lnSpc>
              <a:buFont typeface="Arial"/>
              <a:buChar char="•"/>
            </a:pPr>
            <a:r>
              <a:rPr lang="en-US" sz="3568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Use different keys to move through the grid (Up, Down, Left, Right).</a:t>
            </a:r>
          </a:p>
          <a:p>
            <a:pPr algn="l" marL="770409" indent="-385204" lvl="1">
              <a:lnSpc>
                <a:spcPts val="4995"/>
              </a:lnSpc>
              <a:buFont typeface="Arial"/>
              <a:buChar char="•"/>
            </a:pPr>
            <a:r>
              <a:rPr lang="en-US" sz="3568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Write letters at specific locations.</a:t>
            </a:r>
          </a:p>
          <a:p>
            <a:pPr algn="l" marL="770409" indent="-385204" lvl="1">
              <a:lnSpc>
                <a:spcPts val="4995"/>
              </a:lnSpc>
              <a:buFont typeface="Arial"/>
              <a:buChar char="•"/>
            </a:pPr>
            <a:r>
              <a:rPr lang="en-US" sz="3568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Submit the solution when all letters are filled.</a:t>
            </a:r>
          </a:p>
          <a:p>
            <a:pPr algn="l">
              <a:lnSpc>
                <a:spcPts val="4995"/>
              </a:lnSpc>
            </a:pPr>
            <a:r>
              <a:rPr lang="en-US" sz="3568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</a:t>
            </a:r>
            <a:r>
              <a:rPr lang="en-US" sz="3568" b="true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Levels</a:t>
            </a:r>
            <a:r>
              <a:rPr lang="en-US" sz="3568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: Each level involves solving a puzzle by placing the right letters at the right locations.</a:t>
            </a:r>
          </a:p>
          <a:p>
            <a:pPr algn="l">
              <a:lnSpc>
                <a:spcPts val="4995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890108" y="4357951"/>
            <a:ext cx="8010866" cy="3593437"/>
          </a:xfrm>
          <a:custGeom>
            <a:avLst/>
            <a:gdLst/>
            <a:ahLst/>
            <a:cxnLst/>
            <a:rect r="r" b="b" t="t" l="l"/>
            <a:pathLst>
              <a:path h="3593437" w="8010866">
                <a:moveTo>
                  <a:pt x="0" y="0"/>
                </a:moveTo>
                <a:lnTo>
                  <a:pt x="8010866" y="0"/>
                </a:lnTo>
                <a:lnTo>
                  <a:pt x="8010866" y="3593437"/>
                </a:lnTo>
                <a:lnTo>
                  <a:pt x="0" y="35934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154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4323" y="181296"/>
            <a:ext cx="16230600" cy="1177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69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LEVELS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27362" y="0"/>
            <a:ext cx="937061" cy="10287000"/>
            <a:chOff x="0" y="0"/>
            <a:chExt cx="246798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679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6798">
                  <a:moveTo>
                    <a:pt x="0" y="0"/>
                  </a:moveTo>
                  <a:lnTo>
                    <a:pt x="246798" y="0"/>
                  </a:lnTo>
                  <a:lnTo>
                    <a:pt x="24679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3E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679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697545" y="878816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4423" y="-164117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7530" y="1630491"/>
            <a:ext cx="8379677" cy="3774498"/>
          </a:xfrm>
          <a:custGeom>
            <a:avLst/>
            <a:gdLst/>
            <a:ahLst/>
            <a:cxnLst/>
            <a:rect r="r" b="b" t="t" l="l"/>
            <a:pathLst>
              <a:path h="3774498" w="8379677">
                <a:moveTo>
                  <a:pt x="0" y="0"/>
                </a:moveTo>
                <a:lnTo>
                  <a:pt x="8379677" y="0"/>
                </a:lnTo>
                <a:lnTo>
                  <a:pt x="8379677" y="3774498"/>
                </a:lnTo>
                <a:lnTo>
                  <a:pt x="0" y="37744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222023" y="5676900"/>
            <a:ext cx="7636247" cy="4130815"/>
          </a:xfrm>
          <a:custGeom>
            <a:avLst/>
            <a:gdLst/>
            <a:ahLst/>
            <a:cxnLst/>
            <a:rect r="r" b="b" t="t" l="l"/>
            <a:pathLst>
              <a:path h="4130815" w="7636247">
                <a:moveTo>
                  <a:pt x="0" y="0"/>
                </a:moveTo>
                <a:lnTo>
                  <a:pt x="7636247" y="0"/>
                </a:lnTo>
                <a:lnTo>
                  <a:pt x="7636247" y="4130815"/>
                </a:lnTo>
                <a:lnTo>
                  <a:pt x="0" y="41308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0" y="1618627"/>
            <a:ext cx="8562124" cy="3786362"/>
          </a:xfrm>
          <a:custGeom>
            <a:avLst/>
            <a:gdLst/>
            <a:ahLst/>
            <a:cxnLst/>
            <a:rect r="r" b="b" t="t" l="l"/>
            <a:pathLst>
              <a:path h="3786362" w="8562124">
                <a:moveTo>
                  <a:pt x="0" y="0"/>
                </a:moveTo>
                <a:lnTo>
                  <a:pt x="8562124" y="0"/>
                </a:lnTo>
                <a:lnTo>
                  <a:pt x="8562124" y="3786362"/>
                </a:lnTo>
                <a:lnTo>
                  <a:pt x="0" y="37863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0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4323" y="552852"/>
            <a:ext cx="16230600" cy="1177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69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GAME STRUCTURE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697545" y="878816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4423" y="-164117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64323" y="3069798"/>
            <a:ext cx="15626526" cy="502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540818" indent="-513606" lvl="2">
              <a:lnSpc>
                <a:spcPts val="4995"/>
              </a:lnSpc>
              <a:buFont typeface="Arial"/>
              <a:buChar char="⚬"/>
            </a:pPr>
            <a:r>
              <a:rPr lang="en-US" b="true" sz="3568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Main Method (Controller): Manages the flow of the game (Level 1 → Level 2 → Level 3).</a:t>
            </a:r>
          </a:p>
          <a:p>
            <a:pPr algn="ctr" marL="1540818" indent="-513606" lvl="2">
              <a:lnSpc>
                <a:spcPts val="4995"/>
              </a:lnSpc>
              <a:buFont typeface="Arial"/>
              <a:buChar char="⚬"/>
            </a:pPr>
            <a:r>
              <a:rPr lang="en-US" b="true" sz="3568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Level Cla</a:t>
            </a:r>
            <a:r>
              <a:rPr lang="en-US" b="true" sz="3568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sses (Level1, Level2, Level3): Each level is defined by its own grid setup, player movement, and specific puzzle-solving logic.</a:t>
            </a:r>
          </a:p>
          <a:p>
            <a:pPr algn="ctr" marL="1540818" indent="-513606" lvl="2">
              <a:lnSpc>
                <a:spcPts val="4995"/>
              </a:lnSpc>
              <a:buFont typeface="Arial"/>
              <a:buChar char="⚬"/>
            </a:pPr>
            <a:r>
              <a:rPr lang="en-US" b="true" sz="3568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Gr</a:t>
            </a:r>
            <a:r>
              <a:rPr lang="en-US" b="true" sz="3568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id and Cell Representation: The grid consists of cells that can either be walls, empty</a:t>
            </a:r>
            <a:r>
              <a:rPr lang="en-US" b="true" sz="3568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 spaces, or letters. Cells are represented as objects of the Grid, Wall, or Letter class.</a:t>
            </a:r>
          </a:p>
          <a:p>
            <a:pPr algn="l">
              <a:lnSpc>
                <a:spcPts val="499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29616" y="6304315"/>
            <a:ext cx="6651535" cy="1394280"/>
            <a:chOff x="0" y="0"/>
            <a:chExt cx="8868713" cy="185904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8868713" cy="1859040"/>
              <a:chOff x="0" y="0"/>
              <a:chExt cx="1751844" cy="36721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751844" cy="367218"/>
              </a:xfrm>
              <a:custGeom>
                <a:avLst/>
                <a:gdLst/>
                <a:ahLst/>
                <a:cxnLst/>
                <a:rect r="r" b="b" t="t" l="l"/>
                <a:pathLst>
                  <a:path h="367218" w="1751844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307857"/>
                    </a:lnTo>
                    <a:cubicBezTo>
                      <a:pt x="1751844" y="340641"/>
                      <a:pt x="1725268" y="367218"/>
                      <a:pt x="1692484" y="367218"/>
                    </a:cubicBezTo>
                    <a:lnTo>
                      <a:pt x="59360" y="367218"/>
                    </a:lnTo>
                    <a:cubicBezTo>
                      <a:pt x="26577" y="367218"/>
                      <a:pt x="0" y="340641"/>
                      <a:pt x="0" y="307857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751844" cy="4053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695604" y="133350"/>
              <a:ext cx="7735510" cy="13527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6662" indent="-323331" lvl="1">
                <a:lnSpc>
                  <a:spcPts val="4193"/>
                </a:lnSpc>
                <a:buFont typeface="Arial"/>
                <a:buChar char="•"/>
              </a:pPr>
              <a:r>
                <a:rPr lang="en-US" sz="2995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Represents editable calls.</a:t>
              </a:r>
            </a:p>
            <a:p>
              <a:pPr algn="l">
                <a:lnSpc>
                  <a:spcPts val="4193"/>
                </a:lnSpc>
              </a:pPr>
              <a:r>
                <a:rPr lang="en-US" sz="2995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       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466728"/>
            <a:ext cx="15504901" cy="92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54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TECHNICAL IMPLEMENTATION (CLASS STRUCTURE)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129616" y="2623806"/>
            <a:ext cx="6651535" cy="1394280"/>
            <a:chOff x="0" y="0"/>
            <a:chExt cx="8868713" cy="185904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8868713" cy="1859040"/>
              <a:chOff x="0" y="0"/>
              <a:chExt cx="1751844" cy="36721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751844" cy="367218"/>
              </a:xfrm>
              <a:custGeom>
                <a:avLst/>
                <a:gdLst/>
                <a:ahLst/>
                <a:cxnLst/>
                <a:rect r="r" b="b" t="t" l="l"/>
                <a:pathLst>
                  <a:path h="367218" w="1751844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307857"/>
                    </a:lnTo>
                    <a:cubicBezTo>
                      <a:pt x="1751844" y="340641"/>
                      <a:pt x="1725268" y="367218"/>
                      <a:pt x="1692484" y="367218"/>
                    </a:cubicBezTo>
                    <a:lnTo>
                      <a:pt x="59360" y="367218"/>
                    </a:lnTo>
                    <a:cubicBezTo>
                      <a:pt x="26577" y="367218"/>
                      <a:pt x="0" y="340641"/>
                      <a:pt x="0" y="307857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751844" cy="4053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695604" y="133350"/>
              <a:ext cx="7735510" cy="13527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6662" indent="-323331" lvl="1">
                <a:lnSpc>
                  <a:spcPts val="4193"/>
                </a:lnSpc>
                <a:buFont typeface="Arial"/>
                <a:buChar char="•"/>
              </a:pPr>
              <a:r>
                <a:rPr lang="en-US" sz="2995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Base class for grid cells.</a:t>
              </a:r>
            </a:p>
            <a:p>
              <a:pPr algn="l">
                <a:lnSpc>
                  <a:spcPts val="4193"/>
                </a:lnSpc>
              </a:pPr>
              <a:r>
                <a:rPr lang="en-US" sz="2995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        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405743" y="5633482"/>
            <a:ext cx="2595036" cy="670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7"/>
              </a:lnSpc>
            </a:pPr>
            <a:r>
              <a:rPr lang="en-US" sz="391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Letter Class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512165" y="-1553858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92058" y="9048108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752223" y="1952974"/>
            <a:ext cx="2248557" cy="670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7"/>
              </a:lnSpc>
            </a:pPr>
            <a:r>
              <a:rPr lang="en-US" sz="391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Grid Class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77402" y="3644570"/>
            <a:ext cx="2981715" cy="670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7"/>
              </a:lnSpc>
            </a:pPr>
            <a:r>
              <a:rPr lang="en-US" sz="391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Wall Class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144631" y="4315402"/>
            <a:ext cx="6651535" cy="1394280"/>
            <a:chOff x="0" y="0"/>
            <a:chExt cx="8868713" cy="185904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8868713" cy="1859040"/>
              <a:chOff x="0" y="0"/>
              <a:chExt cx="1751844" cy="367218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751844" cy="367218"/>
              </a:xfrm>
              <a:custGeom>
                <a:avLst/>
                <a:gdLst/>
                <a:ahLst/>
                <a:cxnLst/>
                <a:rect r="r" b="b" t="t" l="l"/>
                <a:pathLst>
                  <a:path h="367218" w="1751844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307857"/>
                    </a:lnTo>
                    <a:cubicBezTo>
                      <a:pt x="1751844" y="340641"/>
                      <a:pt x="1725268" y="367218"/>
                      <a:pt x="1692484" y="367218"/>
                    </a:cubicBezTo>
                    <a:lnTo>
                      <a:pt x="59360" y="367218"/>
                    </a:lnTo>
                    <a:cubicBezTo>
                      <a:pt x="26577" y="367218"/>
                      <a:pt x="0" y="340641"/>
                      <a:pt x="0" y="307857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751844" cy="4053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695604" y="133350"/>
              <a:ext cx="7735510" cy="13527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6662" indent="-323331" lvl="1">
                <a:lnSpc>
                  <a:spcPts val="4193"/>
                </a:lnSpc>
                <a:buFont typeface="Arial"/>
                <a:buChar char="•"/>
              </a:pPr>
              <a:r>
                <a:rPr lang="en-US" sz="2995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Represents non- editable cells.</a:t>
              </a:r>
            </a:p>
            <a:p>
              <a:pPr algn="l">
                <a:lnSpc>
                  <a:spcPts val="4193"/>
                </a:lnSpc>
              </a:pPr>
              <a:r>
                <a:rPr lang="en-US" sz="2995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   (#)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770741" y="7470359"/>
            <a:ext cx="2595036" cy="670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7"/>
              </a:lnSpc>
            </a:pPr>
            <a:r>
              <a:rPr lang="en-US" sz="391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Level  Class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501597" y="8141192"/>
            <a:ext cx="6294569" cy="1813833"/>
            <a:chOff x="0" y="0"/>
            <a:chExt cx="8392758" cy="2418444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8392758" cy="2418444"/>
              <a:chOff x="0" y="0"/>
              <a:chExt cx="1751844" cy="504809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751844" cy="504809"/>
              </a:xfrm>
              <a:custGeom>
                <a:avLst/>
                <a:gdLst/>
                <a:ahLst/>
                <a:cxnLst/>
                <a:rect r="r" b="b" t="t" l="l"/>
                <a:pathLst>
                  <a:path h="504809" w="1751844">
                    <a:moveTo>
                      <a:pt x="59360" y="0"/>
                    </a:moveTo>
                    <a:lnTo>
                      <a:pt x="1692484" y="0"/>
                    </a:lnTo>
                    <a:cubicBezTo>
                      <a:pt x="1725268" y="0"/>
                      <a:pt x="1751844" y="26577"/>
                      <a:pt x="1751844" y="59360"/>
                    </a:cubicBezTo>
                    <a:lnTo>
                      <a:pt x="1751844" y="445448"/>
                    </a:lnTo>
                    <a:cubicBezTo>
                      <a:pt x="1751844" y="461192"/>
                      <a:pt x="1745590" y="476290"/>
                      <a:pt x="1734458" y="487422"/>
                    </a:cubicBezTo>
                    <a:cubicBezTo>
                      <a:pt x="1723326" y="498555"/>
                      <a:pt x="1708227" y="504809"/>
                      <a:pt x="1692484" y="504809"/>
                    </a:cubicBezTo>
                    <a:lnTo>
                      <a:pt x="59360" y="504809"/>
                    </a:lnTo>
                    <a:cubicBezTo>
                      <a:pt x="26577" y="504809"/>
                      <a:pt x="0" y="478232"/>
                      <a:pt x="0" y="445448"/>
                    </a:cubicBezTo>
                    <a:lnTo>
                      <a:pt x="0" y="59360"/>
                    </a:lnTo>
                    <a:cubicBezTo>
                      <a:pt x="0" y="26577"/>
                      <a:pt x="26577" y="0"/>
                      <a:pt x="59360" y="0"/>
                    </a:cubicBez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751844" cy="5429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658273" y="123126"/>
              <a:ext cx="7320370" cy="19423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11958" indent="-305979" lvl="1">
                <a:lnSpc>
                  <a:spcPts val="3968"/>
                </a:lnSpc>
                <a:buFont typeface="Arial"/>
                <a:buChar char="•"/>
              </a:pPr>
              <a:r>
                <a:rPr lang="en-US" sz="2834">
                  <a:solidFill>
                    <a:srgbClr val="000000"/>
                  </a:solidFill>
                  <a:latin typeface="Alatsi"/>
                  <a:ea typeface="Alatsi"/>
                  <a:cs typeface="Alatsi"/>
                  <a:sym typeface="Alatsi"/>
                </a:rPr>
                <a:t>Each level has a unique grid setup with predefined letters and walls.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54977" y="3748035"/>
            <a:ext cx="11627497" cy="2514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3"/>
              </a:lnSpc>
            </a:pPr>
            <a:r>
              <a:rPr lang="en-US" sz="1469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31071" y="0"/>
            <a:ext cx="4239083" cy="10287000"/>
            <a:chOff x="0" y="0"/>
            <a:chExt cx="5652111" cy="13716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3" id="13"/>
          <p:cNvSpPr/>
          <p:nvPr/>
        </p:nvSpPr>
        <p:spPr>
          <a:xfrm flipH="false" flipV="false" rot="0">
            <a:off x="12412831" y="802621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413653" y="-57369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DAGXOZMr8uc</dc:identifier>
  <dcterms:modified xsi:type="dcterms:W3CDTF">2011-08-01T06:04:30Z</dcterms:modified>
  <cp:revision>1</cp:revision>
  <dc:title>Game: - CROSSWORD</dc:title>
</cp:coreProperties>
</file>